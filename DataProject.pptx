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saveSubsetFonts="1" autoCompressPictures="0">
  <p:sldMasterIdLst>
    <p:sldMasterId id="2147483660" r:id="rId1"/>
  </p:sldMasterIdLst>
  <p:notesMasterIdLst>
    <p:notesMasterId r:id="rId8"/>
  </p:notesMasterIdLst>
  <p:sldIdLst>
    <p:sldId id="256" r:id="rId2"/>
    <p:sldId id="315" r:id="rId3"/>
    <p:sldId id="316" r:id="rId4"/>
    <p:sldId id="317" r:id="rId5"/>
    <p:sldId id="318" r:id="rId6"/>
    <p:sldId id="319" r:id="rId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8B554E-C1ED-4367-2D92-BB7AB8784D80}" v="729" dt="2025-12-08T20:54:16.0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60" y="17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0" y="-12958"/>
            <a:ext cx="12192000" cy="88978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948871" y="1907255"/>
            <a:ext cx="10294257" cy="1915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Verdana"/>
              <a:buNone/>
              <a:defRPr sz="4400"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523999" y="4695016"/>
            <a:ext cx="9144000" cy="645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10778836" y="6407620"/>
            <a:ext cx="14131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" name="Google Shape;21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33777" y="28403"/>
            <a:ext cx="6695245" cy="807063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2"/>
          <p:cNvSpPr/>
          <p:nvPr/>
        </p:nvSpPr>
        <p:spPr>
          <a:xfrm>
            <a:off x="0" y="6212418"/>
            <a:ext cx="12192000" cy="645582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3" name="Google Shape;23;p2" descr="UT Logo - University of Texas at Austin Arm&amp;Emblem Download Vecto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72700" y="6275591"/>
            <a:ext cx="1870835" cy="52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57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" name="Google Shape;5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1"/>
            <a:ext cx="5776856" cy="696358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8"/>
          <p:cNvSpPr/>
          <p:nvPr/>
        </p:nvSpPr>
        <p:spPr>
          <a:xfrm>
            <a:off x="5776856" y="-1"/>
            <a:ext cx="6415143" cy="69635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" name="Google Shape;61;p8" descr="UT Logo - University of Texas at Austin Arm&amp;Emblem Download Vecto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23461" y="44605"/>
            <a:ext cx="2170798" cy="6071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10778836" y="6407620"/>
            <a:ext cx="14131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108172" y="85255"/>
            <a:ext cx="11975656" cy="801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Verdana"/>
              <a:buNone/>
              <a:defRPr sz="4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46808" y="1049770"/>
            <a:ext cx="11298383" cy="5226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10778836" y="6407620"/>
            <a:ext cx="14131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" name="Google Shape;13;p1" descr="UT Logo - University of Texas at Austin Arm&amp;Emblem Download Vecto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5508" y="6439188"/>
            <a:ext cx="1192604" cy="333557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4" r:id="rId2"/>
    <p:sldLayoutId id="2147483656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oden.utexas.edu/media/academics/public_files/Certificate_Project_Approval_Form.pdf" TargetMode="External"/><Relationship Id="rId2" Type="http://schemas.openxmlformats.org/officeDocument/2006/relationships/hyperlink" Target="https://oden.utexas.edu/media/academics/public_files/Certificate_Project_Supervisors.pdf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>
            <a:spLocks noGrp="1"/>
          </p:cNvSpPr>
          <p:nvPr>
            <p:ph type="ctrTitle"/>
          </p:nvPr>
        </p:nvSpPr>
        <p:spPr>
          <a:xfrm>
            <a:off x="948871" y="2079143"/>
            <a:ext cx="10294257" cy="1915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/>
              <a:t>Data Project: HFTO Association Graph</a:t>
            </a:r>
            <a:endParaRPr dirty="0"/>
          </a:p>
        </p:txBody>
      </p:sp>
      <p:sp>
        <p:nvSpPr>
          <p:cNvPr id="98" name="Google Shape;98;p14"/>
          <p:cNvSpPr txBox="1">
            <a:spLocks noGrp="1"/>
          </p:cNvSpPr>
          <p:nvPr>
            <p:ph type="subTitle" idx="1"/>
          </p:nvPr>
        </p:nvSpPr>
        <p:spPr>
          <a:xfrm>
            <a:off x="885300" y="4473050"/>
            <a:ext cx="10421400" cy="17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200" b="1" dirty="0"/>
              <a:t>Isaac Xu: </a:t>
            </a:r>
            <a:r>
              <a:rPr lang="en-US" sz="2200" i="1" dirty="0"/>
              <a:t>BSc Petroleum Engineering </a:t>
            </a:r>
            <a:r>
              <a:rPr lang="en-US" sz="2200" dirty="0"/>
              <a:t>(Austin, TX)</a:t>
            </a:r>
            <a:endParaRPr sz="2200" i="1" dirty="0"/>
          </a:p>
          <a:p>
            <a:pPr marL="0" indent="0"/>
            <a:r>
              <a:rPr lang="en-US" sz="2200" i="1" dirty="0"/>
              <a:t>December 18th, 2025</a:t>
            </a:r>
            <a:endParaRPr sz="2200" i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0A689-BF2A-4855-88FC-92F2511CF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232" y="318190"/>
            <a:ext cx="3932237" cy="669235"/>
          </a:xfrm>
        </p:spPr>
        <p:txBody>
          <a:bodyPr/>
          <a:lstStyle/>
          <a:p>
            <a:r>
              <a:rPr lang="en-US" dirty="0"/>
              <a:t>HFTO Definition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5E9243-B7E1-F619-C1A2-0A22B2BE01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232" y="992187"/>
            <a:ext cx="4102168" cy="5415433"/>
          </a:xfrm>
        </p:spPr>
        <p:txBody>
          <a:bodyPr>
            <a:normAutofit/>
          </a:bodyPr>
          <a:lstStyle/>
          <a:p>
            <a:r>
              <a:rPr lang="en-US" sz="2000" dirty="0" err="1"/>
              <a:t>Bit_BoxShYrms</a:t>
            </a:r>
            <a:r>
              <a:rPr lang="en-US" sz="2000" dirty="0"/>
              <a:t> &gt; 5g, this was decided based on the distribution</a:t>
            </a:r>
          </a:p>
          <a:p>
            <a:r>
              <a:rPr lang="en-US" sz="2000" dirty="0" err="1"/>
              <a:t>Bit_BoxShYrms</a:t>
            </a:r>
            <a:r>
              <a:rPr lang="en-US" sz="2000" dirty="0"/>
              <a:t> used for this project as opposed to </a:t>
            </a:r>
            <a:r>
              <a:rPr lang="en-US" sz="2000" dirty="0" err="1"/>
              <a:t>Bit_BoxShYpeak</a:t>
            </a:r>
            <a:r>
              <a:rPr lang="en-US" sz="2000" dirty="0"/>
              <a:t>, vibration graphs for Yifan used peak but the graphs have the same distribution for each drilling condition</a:t>
            </a:r>
          </a:p>
          <a:p>
            <a:r>
              <a:rPr lang="en-US" sz="2000" dirty="0"/>
              <a:t>Establish this as </a:t>
            </a:r>
            <a:r>
              <a:rPr lang="en-US" sz="2000" dirty="0" err="1"/>
              <a:t>HFTO_bool</a:t>
            </a:r>
            <a:r>
              <a:rPr lang="en-US" sz="2000" dirty="0"/>
              <a:t> and </a:t>
            </a:r>
            <a:r>
              <a:rPr lang="en-US" sz="2000" dirty="0" err="1"/>
              <a:t>HFTO_onset</a:t>
            </a:r>
            <a:r>
              <a:rPr lang="en-US" sz="2000" dirty="0"/>
              <a:t> is when </a:t>
            </a:r>
            <a:r>
              <a:rPr lang="en-US" sz="2000" dirty="0" err="1"/>
              <a:t>HFTO_bool</a:t>
            </a:r>
            <a:r>
              <a:rPr lang="en-US" sz="2000" dirty="0"/>
              <a:t> is true when the previous row is false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B6A80F-FA78-061F-ABDA-D36AD772CF6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A1F4DC-F4C5-8B27-B5AC-9878EFED7C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5975" y="1473200"/>
            <a:ext cx="7170218" cy="3560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753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83258-5285-403C-08EA-2EB987267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3FBE4-3659-19C4-3E17-59DCC0FD1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232" y="318190"/>
            <a:ext cx="4749868" cy="669235"/>
          </a:xfrm>
        </p:spPr>
        <p:txBody>
          <a:bodyPr>
            <a:normAutofit fontScale="90000"/>
          </a:bodyPr>
          <a:lstStyle/>
          <a:p>
            <a:r>
              <a:rPr lang="en-US" dirty="0"/>
              <a:t>Changepoint Detection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DB0BA1-DC3A-2441-DCCB-BEE26D836F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232" y="992187"/>
            <a:ext cx="4991168" cy="5415433"/>
          </a:xfrm>
        </p:spPr>
        <p:txBody>
          <a:bodyPr>
            <a:normAutofit/>
          </a:bodyPr>
          <a:lstStyle/>
          <a:p>
            <a:r>
              <a:rPr lang="en-US" sz="2000" dirty="0"/>
              <a:t>Used Z-score to determine significant change, rolling window of 100, z-threshold of 4 with a cooldown of 200 seconds</a:t>
            </a:r>
          </a:p>
          <a:p>
            <a:r>
              <a:rPr lang="en-US" sz="2000" dirty="0"/>
              <a:t>This was done for both Augmented RPM (mud flow in multiplied with mud motor’s rotations per gallon) and WOB and collapsed into a single flag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630067-9D75-E677-E2C7-509E9101F42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E37AC07-898C-A9E7-731B-6EF7818F27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4398" y="1139905"/>
            <a:ext cx="2778291" cy="514539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BC00BDF-E2C7-EE64-07AE-511F63CC30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1688" y="646978"/>
            <a:ext cx="1991003" cy="39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838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33784-8449-929A-03C3-67780963A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9CB9C-7C4A-0D54-F4C0-0071EE7BB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232" y="318190"/>
            <a:ext cx="6807268" cy="669235"/>
          </a:xfrm>
        </p:spPr>
        <p:txBody>
          <a:bodyPr>
            <a:normAutofit fontScale="90000"/>
          </a:bodyPr>
          <a:lstStyle/>
          <a:p>
            <a:r>
              <a:rPr lang="en-US" dirty="0"/>
              <a:t>Changepoint to HFTO Onset Time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1A8CD6-149C-6B8A-A904-0024A22C14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232" y="992187"/>
            <a:ext cx="2819468" cy="5415433"/>
          </a:xfrm>
        </p:spPr>
        <p:txBody>
          <a:bodyPr>
            <a:normAutofit/>
          </a:bodyPr>
          <a:lstStyle/>
          <a:p>
            <a:r>
              <a:rPr lang="en-US" sz="2000" dirty="0"/>
              <a:t>We see that a lot of HFTO onsets occur within 206 seconds of changepoint occurrences or the leftmost bar</a:t>
            </a:r>
          </a:p>
          <a:p>
            <a:r>
              <a:rPr lang="en-US" sz="2000" dirty="0"/>
              <a:t>Around 115 onsets occur within this time frame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154D12-77EE-930D-4541-99FC17AD348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0AC72F-3D2E-4281-83D4-8FE252FC23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8866" y="1033575"/>
            <a:ext cx="8281988" cy="582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5270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C6953-AF39-029A-4EF7-91BFC7846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FF76F-702E-46A6-8CCD-F3F64C251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232" y="318190"/>
            <a:ext cx="6807268" cy="669235"/>
          </a:xfrm>
        </p:spPr>
        <p:txBody>
          <a:bodyPr>
            <a:normAutofit/>
          </a:bodyPr>
          <a:lstStyle/>
          <a:p>
            <a:r>
              <a:rPr lang="en-US" dirty="0"/>
              <a:t>Future 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0726E8-2A1E-AC37-B600-67BD07087A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231" y="992187"/>
            <a:ext cx="9236597" cy="5415433"/>
          </a:xfrm>
        </p:spPr>
        <p:txBody>
          <a:bodyPr>
            <a:normAutofit/>
          </a:bodyPr>
          <a:lstStyle/>
          <a:p>
            <a:r>
              <a:rPr lang="en-US" sz="2000" dirty="0"/>
              <a:t>Distinguish between if HFTO occurs after WOB or RPM changepoint, instead of collapsing into single flag make stacked bar chart with both</a:t>
            </a:r>
          </a:p>
          <a:p>
            <a:r>
              <a:rPr lang="en-US" sz="2000" dirty="0"/>
              <a:t>Could be an association because bit goes from off-bottom to on-bottom, causing a changepoint. If HFTO’s are prevalent in this dataset and occur while drilling at any drilling condition, the cause isn’t the changepoint rather that the bit simply started drilling. Make a graph for start drilling to next HFTO onset</a:t>
            </a:r>
          </a:p>
          <a:p>
            <a:r>
              <a:rPr lang="en-US" sz="2000" dirty="0"/>
              <a:t>Also might want to reconsider the definition of HFTO, maybe it needs to be consistently above 5g’s for an extended amount of time – depends on industry </a:t>
            </a:r>
            <a:r>
              <a:rPr lang="en-US" sz="2000"/>
              <a:t>use case. </a:t>
            </a:r>
            <a:endParaRPr lang="en-US" sz="2000" dirty="0"/>
          </a:p>
          <a:p>
            <a:endParaRPr lang="en-US" sz="2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482533-A7D5-1E62-F667-BF01EB17521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5513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6A97C-209D-5E2C-4D51-13EA6AE27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BCC2F-8034-6EA1-3DB7-CA56AE16C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232" y="318190"/>
            <a:ext cx="6807268" cy="669235"/>
          </a:xfrm>
        </p:spPr>
        <p:txBody>
          <a:bodyPr>
            <a:normAutofit fontScale="90000"/>
          </a:bodyPr>
          <a:lstStyle/>
          <a:p>
            <a:r>
              <a:rPr lang="en-US" dirty="0"/>
              <a:t>Computational Engineering Certificate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14A9C9-D9B0-8158-23AE-8E2276ED4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231" y="992187"/>
            <a:ext cx="9236597" cy="5415433"/>
          </a:xfrm>
        </p:spPr>
        <p:txBody>
          <a:bodyPr>
            <a:normAutofit/>
          </a:bodyPr>
          <a:lstStyle/>
          <a:p>
            <a:pPr marL="25400" indent="0">
              <a:lnSpc>
                <a:spcPct val="100000"/>
              </a:lnSpc>
              <a:buNone/>
            </a:pPr>
            <a:r>
              <a:rPr lang="en-US" sz="2100" dirty="0"/>
              <a:t>Scientific Computing Project</a:t>
            </a:r>
          </a:p>
          <a:p>
            <a:pPr lvl="1">
              <a:lnSpc>
                <a:spcPct val="100000"/>
              </a:lnSpc>
            </a:pPr>
            <a:r>
              <a:rPr lang="en-US" sz="2100" dirty="0"/>
              <a:t>Project supervisor must be a member of the Oden Institute Affiliated Faculty. Review the current list of faculty who are interested in supervising a project: </a:t>
            </a:r>
            <a:r>
              <a:rPr lang="en-US" sz="2100" u="sng" dirty="0">
                <a:hlinkClick r:id="rId2"/>
              </a:rPr>
              <a:t>CSE Project Supervisors</a:t>
            </a:r>
            <a:r>
              <a:rPr lang="en-US" sz="2100" dirty="0"/>
              <a:t>. The list includes the faculty member's home department and their research areas and potential project topics.</a:t>
            </a:r>
          </a:p>
          <a:p>
            <a:pPr lvl="1">
              <a:lnSpc>
                <a:spcPct val="100000"/>
              </a:lnSpc>
            </a:pPr>
            <a:r>
              <a:rPr lang="en-US" sz="2100" dirty="0"/>
              <a:t>Project is typically completed during the senior year, taken as a Research Methods/Individual Instruction class. The project course may include mentoring by post-doctoral fellows and CSEM graduate students as part of a vertical instruction research team.</a:t>
            </a:r>
          </a:p>
          <a:p>
            <a:pPr lvl="1">
              <a:lnSpc>
                <a:spcPct val="100000"/>
              </a:lnSpc>
            </a:pPr>
            <a:r>
              <a:rPr lang="en-US" sz="2100" u="sng" dirty="0">
                <a:hlinkClick r:id="rId3"/>
              </a:rPr>
              <a:t>SCP Approval Form</a:t>
            </a:r>
            <a:r>
              <a:rPr lang="en-US" sz="2100" dirty="0"/>
              <a:t> must be submitted to get credit for the Scientific Computing Project. Enrollment in CSE 370 is restricted until the approval form has been received.</a:t>
            </a:r>
          </a:p>
          <a:p>
            <a:endParaRPr lang="en-US" sz="2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447718-5EA0-EB59-C875-E4D20987FB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7852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9162</TotalTime>
  <Words>413</Words>
  <Application>Microsoft Office PowerPoint</Application>
  <PresentationFormat>Widescreen</PresentationFormat>
  <Paragraphs>28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Verdana</vt:lpstr>
      <vt:lpstr>Office Theme</vt:lpstr>
      <vt:lpstr>Data Project: HFTO Association Graph</vt:lpstr>
      <vt:lpstr>HFTO Definition</vt:lpstr>
      <vt:lpstr>Changepoint Detection</vt:lpstr>
      <vt:lpstr>Changepoint to HFTO Onset Time</vt:lpstr>
      <vt:lpstr>Future Work</vt:lpstr>
      <vt:lpstr>Computational Engineering Certificate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Isaac Xu</dc:creator>
  <cp:lastModifiedBy>Xu, Isaac</cp:lastModifiedBy>
  <cp:revision>288</cp:revision>
  <dcterms:modified xsi:type="dcterms:W3CDTF">2026-02-11T21:22:20Z</dcterms:modified>
</cp:coreProperties>
</file>