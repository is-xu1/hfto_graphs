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315" r:id="rId3"/>
    <p:sldId id="262" r:id="rId4"/>
    <p:sldId id="267" r:id="rId5"/>
    <p:sldId id="326" r:id="rId6"/>
    <p:sldId id="264" r:id="rId7"/>
    <p:sldId id="316" r:id="rId8"/>
    <p:sldId id="268" r:id="rId9"/>
    <p:sldId id="307" r:id="rId10"/>
    <p:sldId id="317" r:id="rId11"/>
    <p:sldId id="318" r:id="rId12"/>
    <p:sldId id="319" r:id="rId13"/>
    <p:sldId id="278" r:id="rId14"/>
    <p:sldId id="320" r:id="rId15"/>
    <p:sldId id="309" r:id="rId16"/>
    <p:sldId id="321" r:id="rId17"/>
    <p:sldId id="283" r:id="rId18"/>
    <p:sldId id="322" r:id="rId19"/>
    <p:sldId id="310" r:id="rId20"/>
    <p:sldId id="288" r:id="rId21"/>
    <p:sldId id="323" r:id="rId22"/>
    <p:sldId id="311" r:id="rId23"/>
    <p:sldId id="293" r:id="rId24"/>
    <p:sldId id="324" r:id="rId25"/>
    <p:sldId id="312" r:id="rId26"/>
    <p:sldId id="298" r:id="rId27"/>
    <p:sldId id="325" r:id="rId28"/>
    <p:sldId id="313" r:id="rId29"/>
    <p:sldId id="306" r:id="rId30"/>
    <p:sldId id="303" r:id="rId31"/>
    <p:sldId id="304" r:id="rId32"/>
    <p:sldId id="305" r:id="rId33"/>
    <p:sldId id="31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B554E-C1ED-4367-2D92-BB7AB8784D80}" v="729" dt="2025-12-08T20:54:16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0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0687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917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053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2958"/>
            <a:ext cx="12192000" cy="889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48871" y="1907255"/>
            <a:ext cx="10294257" cy="191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3999" y="4695016"/>
            <a:ext cx="9144000" cy="645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777" y="28403"/>
            <a:ext cx="6695245" cy="807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0" y="6212418"/>
            <a:ext cx="12192000" cy="64558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" name="Google Shape;23;p2" descr="UT Logo - University of Texas at Austin Arm&amp;Emblem Download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0" y="6275591"/>
            <a:ext cx="1870835" cy="5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5776856" cy="69635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/>
          <p:nvPr/>
        </p:nvSpPr>
        <p:spPr>
          <a:xfrm>
            <a:off x="5776856" y="-1"/>
            <a:ext cx="6415143" cy="69635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8" descr="UT Logo - University of Texas at Austin Arm&amp;Emblem Download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3461" y="44605"/>
            <a:ext cx="2170798" cy="60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8172" y="85255"/>
            <a:ext cx="11975656" cy="80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46808" y="1049770"/>
            <a:ext cx="11298383" cy="522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0778836" y="6407620"/>
            <a:ext cx="1413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 descr="UT Logo - University of Texas at Austin Arm&amp;Emblem Download Vect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508" y="6439188"/>
            <a:ext cx="1192604" cy="33355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ctrTitle"/>
          </p:nvPr>
        </p:nvSpPr>
        <p:spPr>
          <a:xfrm>
            <a:off x="948871" y="2079143"/>
            <a:ext cx="10294257" cy="1915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Well 16A(78)-32 UTAH FORGE HFTO Graphs</a:t>
            </a:r>
            <a:endParaRPr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885300" y="4473050"/>
            <a:ext cx="104214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200" b="1" dirty="0"/>
              <a:t>Isaac Xu: </a:t>
            </a:r>
            <a:r>
              <a:rPr lang="en-US" sz="2200" i="1" dirty="0"/>
              <a:t>BSc Petroleum Engineering </a:t>
            </a:r>
            <a:r>
              <a:rPr lang="en-US" sz="2200" dirty="0"/>
              <a:t>(Austin, TX)</a:t>
            </a:r>
            <a:endParaRPr sz="2200" i="1" dirty="0"/>
          </a:p>
          <a:p>
            <a:pPr marL="0" indent="0"/>
            <a:r>
              <a:rPr lang="en-US" sz="2200" i="1" dirty="0"/>
              <a:t>December 18th, 2025</a:t>
            </a:r>
            <a:endParaRPr sz="22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0408-A7EE-74D2-B29A-C5A65953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F2F9-158C-D13D-6220-D1993AAF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74" y="442010"/>
            <a:ext cx="3184615" cy="59378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</a:t>
            </a:r>
            <a:r>
              <a:rPr lang="en-US" sz="3600" dirty="0"/>
              <a:t>Collection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5A354-D5A2-9187-C8A6-D318740CB5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3807" y="928777"/>
            <a:ext cx="4758935" cy="4997720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GameChanger</a:t>
            </a:r>
            <a:r>
              <a:rPr lang="en-US" sz="2000" dirty="0"/>
              <a:t> has a slicing feature that allows precise time slicing HOWEVER does not contain vibration data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BUT there is a 1s data csv attached to every BHA, which will be what we use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 will bin the vibration data by WOB and RPM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975F0-9446-12FD-FBAD-C9E3599918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3BC8C8B7-3126-AE0B-E05D-016199BE8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13" y="388943"/>
            <a:ext cx="6134460" cy="3792208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8C6C89E-269B-D5EF-0C5E-0315EB50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12" y="4211006"/>
            <a:ext cx="3994038" cy="228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1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601B-5151-B091-DC40-19B9DAFA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0"/>
            <a:ext cx="3932237" cy="773502"/>
          </a:xfrm>
        </p:spPr>
        <p:txBody>
          <a:bodyPr/>
          <a:lstStyle/>
          <a:p>
            <a:r>
              <a:rPr lang="en-US" dirty="0"/>
              <a:t>Data Exploration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0C626-3212-8A94-10EE-42AC8FE589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88" y="766646"/>
            <a:ext cx="3932237" cy="3811588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285750">
              <a:lnSpc>
                <a:spcPct val="150000"/>
              </a:lnSpc>
              <a:buChar char="•"/>
            </a:pPr>
            <a:r>
              <a:rPr lang="en-US" sz="1800" dirty="0"/>
              <a:t>First isolate the drilling data that has accompanying high frequency vibration data</a:t>
            </a:r>
          </a:p>
          <a:p>
            <a:pPr marL="514350" indent="-285750">
              <a:lnSpc>
                <a:spcPct val="150000"/>
              </a:lnSpc>
              <a:buChar char="•"/>
            </a:pPr>
            <a:r>
              <a:rPr lang="en-US" sz="1800" dirty="0"/>
              <a:t>Cut off the end of WOB above 100 </a:t>
            </a:r>
            <a:r>
              <a:rPr lang="en-US" sz="1800" dirty="0" err="1"/>
              <a:t>klbs</a:t>
            </a:r>
            <a:r>
              <a:rPr lang="en-US" sz="1800" dirty="0"/>
              <a:t>, this is unrealistic and probably represents unusual drilling phenomena then data</a:t>
            </a:r>
          </a:p>
          <a:p>
            <a:pPr marL="514350" indent="-285750">
              <a:lnSpc>
                <a:spcPct val="150000"/>
              </a:lnSpc>
              <a:buChar char="•"/>
            </a:pPr>
            <a:r>
              <a:rPr lang="en-US" sz="1800" dirty="0"/>
              <a:t>Negative </a:t>
            </a:r>
            <a:r>
              <a:rPr lang="en-US" sz="1800"/>
              <a:t>values</a:t>
            </a:r>
            <a:r>
              <a:rPr lang="en-US" sz="1800" dirty="0"/>
              <a:t> for both </a:t>
            </a:r>
            <a:r>
              <a:rPr lang="en-US" sz="1800"/>
              <a:t>shock and WOB and RPM were also removed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432DA-E964-8FAE-C31C-6FA100701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pic>
        <p:nvPicPr>
          <p:cNvPr id="9" name="Picture 8" descr="A purple and yellow square with white text&#10;&#10;AI-generated content may be incorrect.">
            <a:extLst>
              <a:ext uri="{FF2B5EF4-FFF2-40B4-BE49-F238E27FC236}">
                <a16:creationId xmlns:a16="http://schemas.microsoft.com/office/drawing/2014/main" id="{E3E5282E-EF98-C6F8-E038-B9F543765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882" y="1258018"/>
            <a:ext cx="3647160" cy="4737340"/>
          </a:xfrm>
          <a:prstGeom prst="rect">
            <a:avLst/>
          </a:prstGeom>
        </p:spPr>
      </p:pic>
      <p:pic>
        <p:nvPicPr>
          <p:cNvPr id="10" name="Picture 9" descr="A graph of a person with histogram&#10;&#10;AI-generated content may be incorrect.">
            <a:extLst>
              <a:ext uri="{FF2B5EF4-FFF2-40B4-BE49-F238E27FC236}">
                <a16:creationId xmlns:a16="http://schemas.microsoft.com/office/drawing/2014/main" id="{5D4810B0-8438-356F-3D44-3A42D11E6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992" y="3348067"/>
            <a:ext cx="4314366" cy="3247107"/>
          </a:xfrm>
          <a:prstGeom prst="rect">
            <a:avLst/>
          </a:prstGeom>
        </p:spPr>
      </p:pic>
      <p:pic>
        <p:nvPicPr>
          <p:cNvPr id="11" name="Picture 10" descr="A graph with blue bars&#10;&#10;AI-generated content may be incorrect.">
            <a:extLst>
              <a:ext uri="{FF2B5EF4-FFF2-40B4-BE49-F238E27FC236}">
                <a16:creationId xmlns:a16="http://schemas.microsoft.com/office/drawing/2014/main" id="{39C498D6-3D13-853B-D74D-9D8B9756A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986" y="-2641"/>
            <a:ext cx="4298758" cy="314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5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759-3667-FF8C-FD86-D51AD00D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252763" cy="1159565"/>
          </a:xfrm>
        </p:spPr>
        <p:txBody>
          <a:bodyPr/>
          <a:lstStyle/>
          <a:p>
            <a:r>
              <a:rPr lang="en-US" dirty="0"/>
              <a:t>Missing Data Values and Augmenting RPM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1598A-379A-85F2-2625-36652EAD6E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35" y="1286723"/>
            <a:ext cx="6028016" cy="5226720"/>
          </a:xfrm>
        </p:spPr>
        <p:txBody>
          <a:bodyPr>
            <a:normAutofit/>
          </a:bodyPr>
          <a:lstStyle/>
          <a:p>
            <a:pPr marL="514350" indent="-285750">
              <a:lnSpc>
                <a:spcPct val="150000"/>
              </a:lnSpc>
              <a:buChar char="•"/>
            </a:pPr>
            <a:r>
              <a:rPr lang="en-US" sz="1800" dirty="0"/>
              <a:t>Isolated the relevant columns and calculated Augmented RPM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800" dirty="0"/>
              <a:t>We can multiply mud motor by flow in and add to top drive RPM to find bit RPM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800" dirty="0"/>
              <a:t>Scout (the mud motor manufacturer for this BHA) has specification sheets, for this BHA's mud motor specifications was 0.242revs/gal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800" dirty="0"/>
              <a:t>After isolated 10 &lt; WOB &lt; 100 and 10&lt; Augmented RPM we get 43,268 rows</a:t>
            </a:r>
          </a:p>
          <a:p>
            <a:pPr marL="514350" indent="-285750">
              <a:buFont typeface="Arial,Sans-Serif"/>
              <a:buChar char="•"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509B8-2601-CA34-5E23-00F961E230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pic>
        <p:nvPicPr>
          <p:cNvPr id="8" name="Picture 7" descr="A purple square with white text&#10;&#10;AI-generated content may be incorrect.">
            <a:extLst>
              <a:ext uri="{FF2B5EF4-FFF2-40B4-BE49-F238E27FC236}">
                <a16:creationId xmlns:a16="http://schemas.microsoft.com/office/drawing/2014/main" id="{18149250-AE82-5AD9-EEE6-3F16B9B1A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551" y="206430"/>
            <a:ext cx="54197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7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ADB6-0ACB-A69A-1709-AB8F307E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ROP Calculations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5FCD6-2AFC-B8A7-6AEB-B3F181BB248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BHA09 </a:t>
            </a:r>
            <a:r>
              <a:rPr lang="en-US" dirty="0">
                <a:solidFill>
                  <a:srgbClr val="C00000"/>
                </a:solidFill>
              </a:rPr>
              <a:t>(13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r>
              <a:rPr lang="en-US" dirty="0">
                <a:solidFill>
                  <a:srgbClr val="C00000"/>
                </a:solidFill>
              </a:rPr>
              <a:t> in document)</a:t>
            </a:r>
            <a:r>
              <a:rPr lang="en-US" dirty="0">
                <a:solidFill>
                  <a:schemeClr val="tx1"/>
                </a:solidFill>
              </a:rPr>
              <a:t>, drilled 232ft in 23.21 hours (start: 11/14/2020 11:58:42PM, end: 11/15/2020 11:11:22PM) or 9.99 </a:t>
            </a:r>
            <a:r>
              <a:rPr lang="en-US" dirty="0" err="1">
                <a:solidFill>
                  <a:schemeClr val="tx1"/>
                </a:solidFill>
              </a:rPr>
              <a:t>fph</a:t>
            </a:r>
            <a:r>
              <a:rPr lang="en-US" dirty="0">
                <a:solidFill>
                  <a:schemeClr val="tx1"/>
                </a:solidFill>
              </a:rPr>
              <a:t>, using the python script to the right, calculated to be </a:t>
            </a:r>
            <a:r>
              <a:rPr lang="en-US" dirty="0">
                <a:solidFill>
                  <a:srgbClr val="C00000"/>
                </a:solidFill>
              </a:rPr>
              <a:t>14.37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endParaRPr lang="en-US" dirty="0">
              <a:solidFill>
                <a:srgbClr val="C00000"/>
              </a:solidFill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BHA10 </a:t>
            </a:r>
            <a:r>
              <a:rPr lang="en-US" dirty="0">
                <a:solidFill>
                  <a:srgbClr val="C00000"/>
                </a:solidFill>
              </a:rPr>
              <a:t>(13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r>
              <a:rPr lang="en-US" dirty="0">
                <a:solidFill>
                  <a:srgbClr val="C0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drilled 124ft in 11.9 hours or 10.42 </a:t>
            </a:r>
            <a:r>
              <a:rPr lang="en-US" dirty="0" err="1">
                <a:solidFill>
                  <a:schemeClr val="tx1"/>
                </a:solidFill>
              </a:rPr>
              <a:t>fph</a:t>
            </a:r>
            <a:r>
              <a:rPr lang="en-US" dirty="0">
                <a:solidFill>
                  <a:schemeClr val="tx1"/>
                </a:solidFill>
              </a:rPr>
              <a:t>, using python: </a:t>
            </a:r>
            <a:r>
              <a:rPr lang="en-US" dirty="0">
                <a:solidFill>
                  <a:srgbClr val="C00000"/>
                </a:solidFill>
              </a:rPr>
              <a:t>15.03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endParaRPr lang="en-US" dirty="0">
              <a:solidFill>
                <a:srgbClr val="C00000"/>
              </a:solidFill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BHA14 </a:t>
            </a:r>
            <a:r>
              <a:rPr lang="en-US" dirty="0">
                <a:solidFill>
                  <a:srgbClr val="C00000"/>
                </a:solidFill>
              </a:rPr>
              <a:t>(8.7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r>
              <a:rPr lang="en-US" dirty="0">
                <a:solidFill>
                  <a:srgbClr val="C0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drilled 342ft in 43.94 hours or 7.78 </a:t>
            </a:r>
            <a:r>
              <a:rPr lang="en-US" dirty="0" err="1">
                <a:solidFill>
                  <a:schemeClr val="tx1"/>
                </a:solidFill>
              </a:rPr>
              <a:t>fph</a:t>
            </a:r>
            <a:r>
              <a:rPr lang="en-US" dirty="0">
                <a:solidFill>
                  <a:schemeClr val="tx1"/>
                </a:solidFill>
              </a:rPr>
              <a:t>, using python: </a:t>
            </a:r>
            <a:r>
              <a:rPr lang="en-US" dirty="0">
                <a:solidFill>
                  <a:srgbClr val="C00000"/>
                </a:solidFill>
              </a:rPr>
              <a:t>12.44 </a:t>
            </a:r>
            <a:r>
              <a:rPr lang="en-US" dirty="0" err="1">
                <a:solidFill>
                  <a:srgbClr val="C00000"/>
                </a:solidFill>
              </a:rPr>
              <a:t>fph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86F67-47C9-0B0B-765E-2D3A239DA3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92EDD9B-26F3-A4DE-32AA-67FF17672956}"/>
              </a:ext>
            </a:extLst>
          </p:cNvPr>
          <p:cNvGrpSpPr/>
          <p:nvPr/>
        </p:nvGrpSpPr>
        <p:grpSpPr>
          <a:xfrm>
            <a:off x="5419313" y="2639505"/>
            <a:ext cx="6262066" cy="1986262"/>
            <a:chOff x="5016927" y="2536635"/>
            <a:chExt cx="6262066" cy="198626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3BD9679-601F-01C6-D9F9-3541717A1725}"/>
                </a:ext>
              </a:extLst>
            </p:cNvPr>
            <p:cNvGrpSpPr/>
            <p:nvPr/>
          </p:nvGrpSpPr>
          <p:grpSpPr>
            <a:xfrm>
              <a:off x="6581425" y="2536635"/>
              <a:ext cx="2983230" cy="685800"/>
              <a:chOff x="6823710" y="2743200"/>
              <a:chExt cx="2983230" cy="685800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AAA943D-3CE5-D97D-D76A-73A410F61328}"/>
                  </a:ext>
                </a:extLst>
              </p:cNvPr>
              <p:cNvSpPr/>
              <p:nvPr/>
            </p:nvSpPr>
            <p:spPr>
              <a:xfrm>
                <a:off x="6823710" y="2743200"/>
                <a:ext cx="2983230" cy="6858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42058E-959A-29FA-DFE7-2BC922DF8C96}"/>
                  </a:ext>
                </a:extLst>
              </p:cNvPr>
              <p:cNvSpPr txBox="1"/>
              <p:nvPr/>
            </p:nvSpPr>
            <p:spPr>
              <a:xfrm>
                <a:off x="6975054" y="2932211"/>
                <a:ext cx="26805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chemeClr val="accent2">
                        <a:lumMod val="75000"/>
                      </a:schemeClr>
                    </a:solidFill>
                  </a:rPr>
                  <a:t>Surface_GC_OnBottom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(bool)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EEE5C1E-64F5-78E6-434F-D8A6765631CC}"/>
                </a:ext>
              </a:extLst>
            </p:cNvPr>
            <p:cNvGrpSpPr/>
            <p:nvPr/>
          </p:nvGrpSpPr>
          <p:grpSpPr>
            <a:xfrm>
              <a:off x="5016927" y="3841629"/>
              <a:ext cx="2531992" cy="650677"/>
              <a:chOff x="6823710" y="2743200"/>
              <a:chExt cx="2983230" cy="68580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8354DC0-D92F-08CC-D9CE-31D4895A459C}"/>
                  </a:ext>
                </a:extLst>
              </p:cNvPr>
              <p:cNvSpPr/>
              <p:nvPr/>
            </p:nvSpPr>
            <p:spPr>
              <a:xfrm>
                <a:off x="6823710" y="2743200"/>
                <a:ext cx="2983230" cy="6858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8722C5-0881-BC5C-E252-58DDBF52BA25}"/>
                  </a:ext>
                </a:extLst>
              </p:cNvPr>
              <p:cNvSpPr txBox="1"/>
              <p:nvPr/>
            </p:nvSpPr>
            <p:spPr>
              <a:xfrm>
                <a:off x="6899382" y="2923469"/>
                <a:ext cx="2831886" cy="324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Timeframe = 0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2DC780D-E4F7-F609-E64D-C4617821BA88}"/>
                </a:ext>
              </a:extLst>
            </p:cNvPr>
            <p:cNvGrpSpPr/>
            <p:nvPr/>
          </p:nvGrpSpPr>
          <p:grpSpPr>
            <a:xfrm>
              <a:off x="8747001" y="3872220"/>
              <a:ext cx="2531992" cy="650677"/>
              <a:chOff x="6823710" y="2743200"/>
              <a:chExt cx="2983230" cy="68580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4B85EF1-F04D-D2F5-85D7-5806F1823A85}"/>
                  </a:ext>
                </a:extLst>
              </p:cNvPr>
              <p:cNvSpPr/>
              <p:nvPr/>
            </p:nvSpPr>
            <p:spPr>
              <a:xfrm>
                <a:off x="6823710" y="2743200"/>
                <a:ext cx="2983230" cy="68580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AA474D-1E1E-839B-F4CF-C778E1E16A51}"/>
                  </a:ext>
                </a:extLst>
              </p:cNvPr>
              <p:cNvSpPr txBox="1"/>
              <p:nvPr/>
            </p:nvSpPr>
            <p:spPr>
              <a:xfrm>
                <a:off x="6900844" y="2809932"/>
                <a:ext cx="2831886" cy="551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</a:rPr>
                  <a:t>Timeframe = next row – current row</a:t>
                </a: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6EE1356-92CA-6C43-4C6A-36E8CD188664}"/>
                </a:ext>
              </a:extLst>
            </p:cNvPr>
            <p:cNvCxnSpPr>
              <a:stCxn id="8" idx="2"/>
              <a:endCxn id="13" idx="0"/>
            </p:cNvCxnSpPr>
            <p:nvPr/>
          </p:nvCxnSpPr>
          <p:spPr>
            <a:xfrm flipH="1">
              <a:off x="6282923" y="3222435"/>
              <a:ext cx="1790117" cy="619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37240C0-C013-8594-21C8-FE0B917D63D8}"/>
                </a:ext>
              </a:extLst>
            </p:cNvPr>
            <p:cNvCxnSpPr>
              <a:cxnSpLocks/>
              <a:stCxn id="8" idx="2"/>
              <a:endCxn id="22" idx="0"/>
            </p:cNvCxnSpPr>
            <p:nvPr/>
          </p:nvCxnSpPr>
          <p:spPr>
            <a:xfrm>
              <a:off x="8073040" y="3222435"/>
              <a:ext cx="1939957" cy="6497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26485C-4DCF-6333-8231-4BDE62F0307D}"/>
                </a:ext>
              </a:extLst>
            </p:cNvPr>
            <p:cNvSpPr txBox="1"/>
            <p:nvPr/>
          </p:nvSpPr>
          <p:spPr>
            <a:xfrm>
              <a:off x="9737120" y="3338926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True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474676-59CA-85E1-595A-5E36E55AA4AF}"/>
                </a:ext>
              </a:extLst>
            </p:cNvPr>
            <p:cNvSpPr txBox="1"/>
            <p:nvPr/>
          </p:nvSpPr>
          <p:spPr>
            <a:xfrm>
              <a:off x="6250636" y="3282650"/>
              <a:ext cx="622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False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DB0FDAA-BF8E-D389-CF3A-6CC78954A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261" y="382496"/>
            <a:ext cx="6858957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7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86AE-B0AE-67D6-26DD-8448558D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5" y="188912"/>
            <a:ext cx="5117259" cy="1028047"/>
          </a:xfrm>
        </p:spPr>
        <p:txBody>
          <a:bodyPr/>
          <a:lstStyle/>
          <a:p>
            <a:r>
              <a:rPr lang="en-US" dirty="0"/>
              <a:t>Drilling, Non-Drilling, Rotating, Sliding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56EB5-292B-0B01-35AF-9D2CE83774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265" y="1269666"/>
            <a:ext cx="5029853" cy="5137954"/>
          </a:xfrm>
        </p:spPr>
        <p:txBody>
          <a:bodyPr/>
          <a:lstStyle/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/>
              <a:t>The dataset gives us bools for this data, and we can split the data into 4 categories:</a:t>
            </a:r>
          </a:p>
          <a:p>
            <a:pPr marL="9715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Drilling</a:t>
            </a:r>
          </a:p>
          <a:p>
            <a:pPr marL="9715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Non-Drilling</a:t>
            </a:r>
          </a:p>
          <a:p>
            <a:pPr marL="9715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Rotating</a:t>
            </a:r>
          </a:p>
          <a:p>
            <a:pPr marL="9715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Sliding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/>
              <a:t>We can now bin the data and make the HFTO graph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/>
              <a:t>Since non-drilling data is low count, a meaningful analysis of this data may not be helpful</a:t>
            </a:r>
          </a:p>
          <a:p>
            <a:pPr marL="742950" lvl="1" indent="0">
              <a:buSzPts val="1600"/>
            </a:pPr>
            <a:endParaRPr lang="en-US" dirty="0"/>
          </a:p>
          <a:p>
            <a:pPr marL="742950" lvl="1" indent="0">
              <a:buSzPts val="1600"/>
              <a:buFont typeface="Courier New"/>
            </a:pPr>
            <a:endParaRPr lang="en-US" dirty="0"/>
          </a:p>
          <a:p>
            <a:pPr marL="742950" lvl="1" indent="0">
              <a:buSzPts val="1600"/>
              <a:buFont typeface="Courier New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32C4F-D430-C64C-8B67-002890217F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64B0D-0644-AF1D-553E-6D557520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030" y="539831"/>
            <a:ext cx="6828427" cy="527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6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79EA-F5B7-6B6C-AC92-C8878630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DF5-D99A-7B65-60E6-F359E5A2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2" y="186488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BHA18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B600A-E089-9457-3F52-11F5B89540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756FD-A0FB-5FA4-87C2-49FB01C7C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230"/>
            <a:ext cx="4128052" cy="56508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A2C008-E6AA-A9E2-BB0F-972608512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37" y="766555"/>
            <a:ext cx="7210025" cy="53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3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0408-EB54-7B00-93BA-566A1E99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4" y="1678010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BHA18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19B2D-9BA2-CF57-109E-63F4A60B36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9A48B-7506-E0FA-7DA4-366E17C66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49" y="2498083"/>
            <a:ext cx="5200528" cy="1998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D0400D-FC17-B674-5D7F-3CBD8C5A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806" y="747998"/>
            <a:ext cx="6163910" cy="52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2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D7B7-5D67-24F5-6204-5D5FA87B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A0572-0DDA-E073-E13E-13E2AEDD23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AC0FF00-0D6A-3E1D-A3EB-AE074B09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618"/>
            <a:ext cx="4789357" cy="52598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BHA18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EC9AC-9A37-9080-71F9-D68906DEA00F}"/>
              </a:ext>
            </a:extLst>
          </p:cNvPr>
          <p:cNvSpPr txBox="1"/>
          <p:nvPr/>
        </p:nvSpPr>
        <p:spPr>
          <a:xfrm>
            <a:off x="157396" y="759251"/>
            <a:ext cx="11125201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0000"/>
                </a:solidFill>
              </a:rPr>
              <a:t>Sliding and rotating runs are totally isolated in terms of common WOB and RPM bins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</a:rPr>
              <a:t>When rotating off bottom, RPM &gt; 100 seems conducive to HFTO’s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</a:rPr>
              <a:t>RPM from 170-180 are correlated to high HFTO’s but &gt;180 RPM and HFTO magnitudes abate somewhat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3F26D-5B80-73DE-AA60-F82FA8A5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96" y="2491263"/>
            <a:ext cx="5834804" cy="18754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F537BB-08AA-A239-A3C4-2AA499452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006" y="2491263"/>
            <a:ext cx="5834804" cy="18754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320E57-21D6-4BEC-EB1A-86556D7F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006" y="4366736"/>
            <a:ext cx="5834804" cy="1875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3ED4F1-7D6B-2CBC-4A38-9228C3EF2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96" y="4479293"/>
            <a:ext cx="5834804" cy="187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8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420D-99D9-D1CE-EF28-FE43BE02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F9FA-C017-A574-82A8-34DB43C4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2" y="186488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BHA23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7A2F8-688D-705A-B59B-36CE8BDCF4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D3CBC-DFF0-47B6-1809-EEF639AD9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82" y="766555"/>
            <a:ext cx="4128052" cy="56508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8B7EFD-D484-D3D0-97B3-32B0BE83B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592" y="766555"/>
            <a:ext cx="7263551" cy="536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7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12B6-4EB1-F801-7075-CE65B6EF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5C88-1E36-08EA-DD08-E1C34C8B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4" y="1820417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BHA23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B8EC7-3435-7EF3-75D2-C6FB1F81B2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75E2A-3FDF-569A-D5E2-5C1F32948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8308"/>
            <a:ext cx="5640350" cy="18778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D9F761-800E-1C16-ABC1-37E56DD4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865" y="738211"/>
            <a:ext cx="6329390" cy="538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8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32D-591A-EDD2-C8B8-21A6C904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4DE16-F88B-0522-D3FA-2C8D1E0606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B8D90E-9A62-A4D0-322A-6BFBA2E1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09296"/>
            <a:ext cx="604206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BHA23 HFTO Graphs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FDD3F-630D-F105-F0AD-3633B62F1059}"/>
              </a:ext>
            </a:extLst>
          </p:cNvPr>
          <p:cNvSpPr txBox="1"/>
          <p:nvPr/>
        </p:nvSpPr>
        <p:spPr>
          <a:xfrm>
            <a:off x="-1" y="615790"/>
            <a:ext cx="11849725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Much wider range of drilling data here, but has less samples than BHA18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Decreasing HFTO magnitude with higher WOB additionally RPM past a point also associated with slightly decrease HFTO magnitude (around 210 in this case)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Within the same RPM and WOB bins, </a:t>
            </a:r>
            <a:r>
              <a:rPr lang="en-US" dirty="0">
                <a:solidFill>
                  <a:srgbClr val="FF0000"/>
                </a:solidFill>
              </a:rPr>
              <a:t>rotating has significantly higher HFTO magnitudes than sliding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Similar to BHA18, rotating off bottom above 90 RPM correlated with higher HFTO magnitudes (probably some reaming going off of the data percentage)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144118-2E12-2267-2E60-A9F234D24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94" y="2605495"/>
            <a:ext cx="5834806" cy="18754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3FCB44-0186-6166-4893-B14578BC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95" y="4366736"/>
            <a:ext cx="5887812" cy="18925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416F48-B2D3-B117-A927-63E027F39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005" y="2614221"/>
            <a:ext cx="5807659" cy="18667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46E706-E22B-6A06-95CB-B8074EEE4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005" y="4366736"/>
            <a:ext cx="5807656" cy="186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9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5B42-D18E-F0F5-0C33-611430F2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78E2-C38C-5E00-6F0F-729FF303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2" y="186488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BHA30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F7AFF-0CF6-1C7F-515D-B010A51B8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59E40-5DF3-64D5-B187-955407B6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961" y="1276709"/>
            <a:ext cx="3443449" cy="473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B005F-9415-3798-D39B-5D9B13170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287" y="186488"/>
            <a:ext cx="5710687" cy="1901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EF10BD-8FA3-026B-BAA3-BFAC1835A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6709"/>
            <a:ext cx="2940896" cy="21719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0E8677-870B-8612-2827-B61270312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744" y="2087733"/>
            <a:ext cx="5295254" cy="450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F2EA-6257-A46B-7C2E-99A62CBA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9047-DD82-480E-6A78-D17E3639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2" y="186488"/>
            <a:ext cx="4933063" cy="54142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BHA30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4064F-64ED-44E3-F512-FC16A9CC05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48C52-1021-8490-A5E0-6E4E3097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64" y="727909"/>
            <a:ext cx="3999669" cy="5503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C664CD-F014-1391-9B34-4E44A0189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62" y="727909"/>
            <a:ext cx="7029474" cy="519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5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F602-0E1A-3732-70AE-099DDBEA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9D25A-8E06-43EF-9F16-0AD804B80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F6B24BA-3DC6-B2C7-706F-C1BA8789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BHA30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58F28-2D24-EBF2-5664-305479CA687E}"/>
              </a:ext>
            </a:extLst>
          </p:cNvPr>
          <p:cNvSpPr txBox="1"/>
          <p:nvPr/>
        </p:nvSpPr>
        <p:spPr>
          <a:xfrm>
            <a:off x="66083" y="584137"/>
            <a:ext cx="12038473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Extremely high outliers for this run (about 200 seconds worth of data at , if we remove these the graph looks a lot different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bottom is rotating with adjusted color bar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Higher WOB associated with lower HFTO magnitudes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Rotating and sliding not a lot of overlap this BHA run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Off bottom rotating has higher associated HFTO magnitude above 70 RPM (probably some reaming going off of the data percentage)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B6474-7753-F942-40EC-6D507EC3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4" y="2425750"/>
            <a:ext cx="5581083" cy="1777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C122C6-DFBC-8624-60BC-BBC709B3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31" y="2425750"/>
            <a:ext cx="5935587" cy="1907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41933A-A77A-C068-A240-FC527245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527" y="4333617"/>
            <a:ext cx="5935583" cy="19078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791A72-832F-C4AA-828F-8752A0388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74" y="4203509"/>
            <a:ext cx="5671201" cy="18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8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BF04F-BF1A-8372-8F86-57FCB4320B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AF35A-075C-D2EB-6BCC-166A3F733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8" y="1739534"/>
            <a:ext cx="11798923" cy="37925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E06469F-BE72-2362-B1EC-F826F9EAB2C6}"/>
              </a:ext>
            </a:extLst>
          </p:cNvPr>
          <p:cNvSpPr txBox="1">
            <a:spLocks/>
          </p:cNvSpPr>
          <p:nvPr/>
        </p:nvSpPr>
        <p:spPr>
          <a:xfrm>
            <a:off x="277318" y="532825"/>
            <a:ext cx="5306518" cy="140158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BHA30 HFTO Graph – Outliers Removed</a:t>
            </a:r>
          </a:p>
        </p:txBody>
      </p:sp>
    </p:spTree>
    <p:extLst>
      <p:ext uri="{BB962C8B-B14F-4D97-AF65-F5344CB8AC3E}">
        <p14:creationId xmlns:p14="http://schemas.microsoft.com/office/powerpoint/2010/main" val="583328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3472-65DA-BABA-7791-4CB865D0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2485-6F4D-00FD-69F9-0653A27E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9867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BHA34 </a:t>
            </a:r>
            <a:r>
              <a:rPr lang="en-US" dirty="0">
                <a:solidFill>
                  <a:srgbClr val="FF0000"/>
                </a:solidFill>
              </a:rPr>
              <a:t>(low data) </a:t>
            </a:r>
            <a:r>
              <a:rPr lang="en-US" dirty="0">
                <a:solidFill>
                  <a:schemeClr val="accent4"/>
                </a:solidFill>
              </a:rPr>
              <a:t>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0F78E-8AEE-A02C-B905-2198C13109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0D1DC-E795-7637-AD3B-9742A1B5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16" y="1173192"/>
            <a:ext cx="3816171" cy="5251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18E6EC-A0DB-788F-3A64-0E25BD025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22" y="1103030"/>
            <a:ext cx="6926912" cy="511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29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0EBF-68CB-0CC2-C888-CC1FB2E2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2497-D6D1-0E7A-7525-4EC8917F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450293"/>
            <a:ext cx="5710687" cy="9867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BHA34 </a:t>
            </a:r>
            <a:r>
              <a:rPr lang="en-US" dirty="0">
                <a:solidFill>
                  <a:srgbClr val="FF0000"/>
                </a:solidFill>
              </a:rPr>
              <a:t>(low data) </a:t>
            </a:r>
            <a:r>
              <a:rPr lang="en-US" dirty="0">
                <a:solidFill>
                  <a:schemeClr val="accent4"/>
                </a:solidFill>
              </a:rPr>
              <a:t>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575FA-ABC2-8F0F-4B2E-0C74B5EB5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05C5F6-11A7-B774-4699-A5E815138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8" y="2570043"/>
            <a:ext cx="5580505" cy="1857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1D59B4-44D3-A8F9-3DA5-1EE02D45D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68" y="972222"/>
            <a:ext cx="6101151" cy="518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8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D7DB4-6D2F-B6E3-90FA-36BF38DA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FB51F-7F5F-4ACD-42F8-A3B400692B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86FE982-F652-EF82-ED50-1BC5530A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43" y="126380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BHA34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1B5BA-7810-E601-9949-3E0E0B72C0E4}"/>
              </a:ext>
            </a:extLst>
          </p:cNvPr>
          <p:cNvSpPr txBox="1"/>
          <p:nvPr/>
        </p:nvSpPr>
        <p:spPr>
          <a:xfrm>
            <a:off x="247442" y="693626"/>
            <a:ext cx="11647191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</a:rPr>
              <a:t>Higher WOB associated with lower shocks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Rotating and sliding have no similar WOB and RPM bins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Off bottom rotations see increased shock above 60 RPM (probably some reaming going off of the data percentage)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0000"/>
                </a:solidFill>
              </a:rPr>
              <a:t>This BHA has low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1761E-F41A-C941-3CEF-831EE9C4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7" y="2345836"/>
            <a:ext cx="5981454" cy="192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EF0296-2123-D00E-04FA-D6182F0E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411" y="2345836"/>
            <a:ext cx="6063589" cy="1947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8F0D03-9626-7AB6-F058-A0F98A053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99" y="4267199"/>
            <a:ext cx="5906155" cy="1897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037537-04F9-C619-A22E-0A97B3DC8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47" y="4293581"/>
            <a:ext cx="5977575" cy="19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58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C257-F33E-93C2-F603-E89CD7BD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F66-D7D3-AF3F-C8CA-BB09DE55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BHA38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71A46-5ED2-CED2-16E2-A826CDD982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A12109-581B-D255-B221-4FBD62D82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2" y="842766"/>
            <a:ext cx="3993896" cy="54576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6FB264-9D8E-34B9-A2C5-611D9381A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00" y="884916"/>
            <a:ext cx="6889496" cy="50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10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3826-5AE6-8F24-5DAC-0EE1259A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9D69-7E8A-A111-7698-AA61FCD1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BHA38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9DC84-BCAC-D808-AA1B-0700166633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01A21-F68D-D5B0-7560-2AD8A959B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8" y="2450897"/>
            <a:ext cx="5875770" cy="19562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CE0433-3151-3D89-3461-3CD0EBF88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0859"/>
            <a:ext cx="5829188" cy="495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25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37E1-3CCB-ADEF-1BB3-3854200A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3162D-9B72-7B1C-A6EC-755E6D4B2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10101BB-07F3-3C83-A30C-82251058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62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BHA38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4C31E-5C3D-D43F-D4ED-105FC8E4F4C1}"/>
              </a:ext>
            </a:extLst>
          </p:cNvPr>
          <p:cNvSpPr txBox="1"/>
          <p:nvPr/>
        </p:nvSpPr>
        <p:spPr>
          <a:xfrm>
            <a:off x="0" y="559596"/>
            <a:ext cx="12145108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BHA38 we don’t see the same effect of WOB on HFTO magnitude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could be that we are missing WOB bins &gt; 50klbs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Increasing RPM reduces HFTO magnitudes somewhat past 240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Sliding and rotating don’t have overlapping bins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Off bottom rotations above 110 RPM has increased HFTO magnitudes </a:t>
            </a:r>
            <a:r>
              <a:rPr lang="en-US" dirty="0">
                <a:solidFill>
                  <a:schemeClr val="tx1"/>
                </a:solidFill>
              </a:rPr>
              <a:t>(probably some reaming going off of the data percentage)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CC6DCC-0600-96AD-5A0B-645C3E01F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8" y="2547106"/>
            <a:ext cx="5927576" cy="19052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2F178-398D-991E-50BB-1E2A86F5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554" y="2547106"/>
            <a:ext cx="6019800" cy="193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0684E9-0745-8349-00CD-BD066EE1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553" y="4452398"/>
            <a:ext cx="6019795" cy="1934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D87ED8-5AC5-5F91-770C-E7741F23B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78" y="4452398"/>
            <a:ext cx="5927576" cy="190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8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AE12-5FAE-E3EC-DBBC-963868C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4520-206D-5082-C02C-61C5DA6D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BHA39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BB1D7-92F8-FC31-3E74-350960F2D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92FD3-61C5-B49A-C928-4FE54BDE0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98" y="844293"/>
            <a:ext cx="4071248" cy="5563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48DAF4-47BE-66B9-A7FD-6700E4EAB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371" y="842766"/>
            <a:ext cx="7280031" cy="53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78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55026-6954-45D7-0504-EB758518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14F7-D08B-B899-2117-C57FFD37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BHA39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D5DE8-B6E6-7BFB-E061-7A43D4D77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A0999C-65D9-EFE4-B7CA-4711EE45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9" y="2283698"/>
            <a:ext cx="5783468" cy="1925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EECBEB-695C-05B3-7F07-1A6171AD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878" y="679083"/>
            <a:ext cx="6039041" cy="513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6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0F7-3C9A-5AAD-EA41-64EFBAF0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70E23-20A5-31AB-060D-697A720AA0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D04095A-607D-1040-34BD-9591574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BHA39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86487-C42E-E37E-9D04-B9F99BD7FE5D}"/>
              </a:ext>
            </a:extLst>
          </p:cNvPr>
          <p:cNvSpPr txBox="1"/>
          <p:nvPr/>
        </p:nvSpPr>
        <p:spPr>
          <a:xfrm>
            <a:off x="-46062" y="525982"/>
            <a:ext cx="12156000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Small correlation of higher WOB and reduced HFTO magnitude, we also see higher RPM correlated with reduced HFTO magnitude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When the bins are correlated between rotating and sliding, typically rotating associated with higher HFTO magnitudes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Rotating off bottom sees increased HFTO magnitudes above 100 RPM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WOB 20-30 and RPM 210-220 particularly conducive to high HFTO this run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1DBB9D-C0BC-6B15-50D1-E9E57F19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49" y="2199155"/>
            <a:ext cx="6036085" cy="1940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F53B6-5B38-9EE2-28ED-A919A2287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936" y="2199155"/>
            <a:ext cx="6036085" cy="1940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4CCA7D-99C9-3FD3-0FA9-578D971E7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08" y="4139325"/>
            <a:ext cx="6031940" cy="1938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EAFB83-8BD5-0D22-738E-FC08C7E75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39325"/>
            <a:ext cx="6031938" cy="193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81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42263-F2F3-6BC5-CC04-D9C722F8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265C-1F17-853F-A71E-396D5238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BHA42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9324C-8A2C-A2F6-01EA-E8556FAACC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37273-D102-7DA1-EE31-38183117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0" y="842766"/>
            <a:ext cx="4030244" cy="5516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4FFB54-7FBB-C691-2FD3-3D1BCFF77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51" y="842766"/>
            <a:ext cx="6872079" cy="50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8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1CEB-BF0C-0266-E49C-411B80BFC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4D74-2D6E-7FEF-689B-D252AD19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81" y="186488"/>
            <a:ext cx="5710687" cy="6562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BHA42 Data Exploration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C9DEF-1ED4-8C3B-1757-74CDBC95E5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DBD67-585D-07B1-690C-0A45EF872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1553"/>
            <a:ext cx="5571463" cy="1854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725CFB-A820-3D91-8406-8D8119843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31" y="782394"/>
            <a:ext cx="6225462" cy="529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88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E490-B00A-C5DA-1D24-38958560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48C66-91E8-5F0D-016E-AB894D11D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AABF81-6947-84B3-39AF-C29C3909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BHA42 HFTO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FEF2F-CD21-E1D0-0E94-2CF1968114C1}"/>
              </a:ext>
            </a:extLst>
          </p:cNvPr>
          <p:cNvSpPr txBox="1"/>
          <p:nvPr/>
        </p:nvSpPr>
        <p:spPr>
          <a:xfrm>
            <a:off x="-1" y="501544"/>
            <a:ext cx="12081461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Similar to previous BHA’s we see a </a:t>
            </a:r>
            <a:r>
              <a:rPr lang="en-US" dirty="0">
                <a:solidFill>
                  <a:srgbClr val="FF0000"/>
                </a:solidFill>
              </a:rPr>
              <a:t>correlation with lower HFTO magnitudes with lower WOB values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WOB 10-40 and RPM 200-210 seems particularly conducive to HFTO’s for this BHA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Sliding and rotating do not share similar bins in this run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Rotating off bottom shock magnitudes around the same as other runs when above 100 RPM, the color bar is shifted for this run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0514C8-3813-79E7-68CA-B1E79042C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9" y="2125530"/>
            <a:ext cx="6028099" cy="19376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3C2C4B-E23A-D921-8313-6B06B8C4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729" y="2110972"/>
            <a:ext cx="6040582" cy="1941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153120-FE00-DBDF-5A23-82978695B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4074045"/>
            <a:ext cx="6028097" cy="1937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BCB6E-FD86-E9C0-1EF1-99FE60A11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63133"/>
            <a:ext cx="6096001" cy="195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92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F9F4C-CED5-E212-C1D3-4FB4E8D12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D96FE6-AD11-FE9E-1C4B-97E18B357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12374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080E1C-B1B4-7468-1030-DA2D89EA4DD1}"/>
              </a:ext>
            </a:extLst>
          </p:cNvPr>
          <p:cNvSpPr txBox="1"/>
          <p:nvPr/>
        </p:nvSpPr>
        <p:spPr>
          <a:xfrm>
            <a:off x="4056781" y="6407620"/>
            <a:ext cx="7428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Zhang, Y. (2025). HFTO and Bit Design Analysis in Utah Forge Well 16A,</a:t>
            </a:r>
          </a:p>
          <a:p>
            <a:r>
              <a:rPr lang="en-US" dirty="0"/>
              <a:t>University of Texas at Austin. https://utexas.box.com/s/7dyfz4u8rwj8ug8jrvetst5vm4mnimlm</a:t>
            </a:r>
          </a:p>
        </p:txBody>
      </p:sp>
    </p:spTree>
    <p:extLst>
      <p:ext uri="{BB962C8B-B14F-4D97-AF65-F5344CB8AC3E}">
        <p14:creationId xmlns:p14="http://schemas.microsoft.com/office/powerpoint/2010/main" val="3966606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C449-1FAE-688D-FB01-082CCEFE0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6E3A8-9A35-8D44-672F-79398443B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817AE57-5E7A-8DB2-93FA-37AEE941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677" y="0"/>
            <a:ext cx="3406746" cy="5259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Red BHA Comparison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ABD262-923A-976A-E766-030E0E3B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1" y="-5636"/>
            <a:ext cx="5245662" cy="16861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2D06E8-89E2-9ED4-90BD-89CEA0643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0469"/>
            <a:ext cx="5259823" cy="16906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34A2A7-9F7E-24F4-03A3-7AFC95D46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35361"/>
            <a:ext cx="5259823" cy="16906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2E1A93-E748-5ADB-E55A-1F22EB6EA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22770"/>
            <a:ext cx="5259822" cy="1690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11C2BC-F6A5-7183-0B64-E227CAA64E04}"/>
              </a:ext>
            </a:extLst>
          </p:cNvPr>
          <p:cNvSpPr txBox="1"/>
          <p:nvPr/>
        </p:nvSpPr>
        <p:spPr>
          <a:xfrm>
            <a:off x="5510677" y="525982"/>
            <a:ext cx="6681324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the red BHA’s we see that </a:t>
            </a:r>
            <a:r>
              <a:rPr lang="en-US" dirty="0">
                <a:solidFill>
                  <a:srgbClr val="FF0000"/>
                </a:solidFill>
              </a:rPr>
              <a:t>RPM &lt; 190 and WOB &lt; 50 </a:t>
            </a:r>
            <a:r>
              <a:rPr lang="en-US" dirty="0" err="1">
                <a:solidFill>
                  <a:srgbClr val="FF0000"/>
                </a:solidFill>
              </a:rPr>
              <a:t>klbs</a:t>
            </a:r>
            <a:r>
              <a:rPr lang="en-US" dirty="0">
                <a:solidFill>
                  <a:srgbClr val="FF0000"/>
                </a:solidFill>
              </a:rPr>
              <a:t> have significantly higher HFTO’s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Interestingly </a:t>
            </a:r>
            <a:r>
              <a:rPr lang="en-US" dirty="0">
                <a:solidFill>
                  <a:srgbClr val="FF0000"/>
                </a:solidFill>
              </a:rPr>
              <a:t>for BHA23, RPM’s that exceed 190 and WOB that exceed 50klbs have reduced HFTO magnitudes</a:t>
            </a:r>
            <a:r>
              <a:rPr lang="en-US" dirty="0"/>
              <a:t>, this data unfortunately doesn’t exist for the other BHA’s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 addition, </a:t>
            </a:r>
            <a:r>
              <a:rPr lang="en-US" dirty="0">
                <a:solidFill>
                  <a:srgbClr val="FF0000"/>
                </a:solidFill>
              </a:rPr>
              <a:t>HFTO magnitudes seem most severe from 200-230 RPM but drop off when pushed even higher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Higher WOB seems to have a suppression effect</a:t>
            </a:r>
            <a:r>
              <a:rPr lang="en-US" dirty="0"/>
              <a:t> on the bit vibrations and </a:t>
            </a:r>
            <a:r>
              <a:rPr lang="en-US" dirty="0">
                <a:solidFill>
                  <a:schemeClr val="tx1"/>
                </a:solidFill>
              </a:rPr>
              <a:t>higher RPM’s may be leading to smoother changes in geology due to faster ROP, reducing effects. </a:t>
            </a:r>
            <a:r>
              <a:rPr lang="en-US" dirty="0"/>
              <a:t>(whereas RPM’s where HFTO’s are higher may be due to increased aggressiveness and bit agitation)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these BHA’s we see that WOB from 10-50 and RPM 200-220 particularly conducive to high HFTO magnitudes</a:t>
            </a:r>
          </a:p>
        </p:txBody>
      </p:sp>
    </p:spTree>
    <p:extLst>
      <p:ext uri="{BB962C8B-B14F-4D97-AF65-F5344CB8AC3E}">
        <p14:creationId xmlns:p14="http://schemas.microsoft.com/office/powerpoint/2010/main" val="4059472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828E-0722-1AB7-6C04-F0F6ED13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0885A-A23F-E102-8AA1-AB07A91068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EF0CB0F-7249-047B-3442-703C47D8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77886" cy="6951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Blue BHA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D8F6E-A747-DE46-196F-D11F487AB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810" y="1107545"/>
            <a:ext cx="6998713" cy="2249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2A556-4EA0-DBE4-97D7-065496A3D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287" y="3656070"/>
            <a:ext cx="6998712" cy="22495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65FA45-2B3B-CE27-0972-15F2C9B7B12E}"/>
              </a:ext>
            </a:extLst>
          </p:cNvPr>
          <p:cNvSpPr txBox="1"/>
          <p:nvPr/>
        </p:nvSpPr>
        <p:spPr>
          <a:xfrm>
            <a:off x="0" y="695195"/>
            <a:ext cx="4859215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BHA30 has some particularly high shock with peaks of 130g’s at some time steps, these are around 500 samples and have been omitted to get a better sense of the HFTO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 see similar patterns to the red BHA’s here, where </a:t>
            </a:r>
            <a:r>
              <a:rPr lang="en-US" sz="2000" dirty="0">
                <a:solidFill>
                  <a:srgbClr val="FF0000"/>
                </a:solidFill>
              </a:rPr>
              <a:t>higher WOB’s are correlated to a suppression effect on HFTO shock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The effect of higher RPM’s are less pronounced in these BHA’s</a:t>
            </a:r>
          </a:p>
        </p:txBody>
      </p:sp>
    </p:spTree>
    <p:extLst>
      <p:ext uri="{BB962C8B-B14F-4D97-AF65-F5344CB8AC3E}">
        <p14:creationId xmlns:p14="http://schemas.microsoft.com/office/powerpoint/2010/main" val="2474086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994C1-7210-4882-06EC-98C2AF9F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A18C1-F409-AA41-893B-FDA7BEF940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63FE955-0205-0581-D27A-5993FF10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77886" cy="46124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BHA 18, 23, 35 HFTO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67670-8014-615B-BBB5-3BD23888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219" y="223138"/>
            <a:ext cx="6610636" cy="2124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56F1D3-28C7-E591-F42E-1155D6200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220" y="2392123"/>
            <a:ext cx="6610636" cy="2124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26E01-A634-9353-4D2A-725603DDB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219" y="4609712"/>
            <a:ext cx="6610636" cy="2124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AE9C1E-B2A3-68FE-0A84-8908F4FAA346}"/>
              </a:ext>
            </a:extLst>
          </p:cNvPr>
          <p:cNvSpPr txBox="1"/>
          <p:nvPr/>
        </p:nvSpPr>
        <p:spPr>
          <a:xfrm>
            <a:off x="49494" y="480854"/>
            <a:ext cx="5162718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</a:rPr>
              <a:t>BHA35 seem to have higher magnitude HFTO’s when compared to BHA18 and BHA23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We see that within the same drilling parameters, BHA35 has higher magnitude HFTO shock when compared to 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Interestingly, </a:t>
            </a:r>
            <a:r>
              <a:rPr lang="en-US" sz="2400" dirty="0">
                <a:solidFill>
                  <a:srgbClr val="FF0000"/>
                </a:solidFill>
              </a:rPr>
              <a:t>does not display the same magnitude of the suppression effect as 23</a:t>
            </a:r>
          </a:p>
        </p:txBody>
      </p:sp>
    </p:spTree>
    <p:extLst>
      <p:ext uri="{BB962C8B-B14F-4D97-AF65-F5344CB8AC3E}">
        <p14:creationId xmlns:p14="http://schemas.microsoft.com/office/powerpoint/2010/main" val="35897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7BD7-EDE3-4B5B-08C4-872A26EF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0189" cy="699961"/>
          </a:xfrm>
        </p:spPr>
        <p:txBody>
          <a:bodyPr/>
          <a:lstStyle/>
          <a:p>
            <a:r>
              <a:rPr lang="en-US" dirty="0"/>
              <a:t>WOB Shifting HFTO Magnitude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B86FD-E6DB-A858-F6A9-083F35973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19953"/>
            <a:ext cx="3338624" cy="4873625"/>
          </a:xfrm>
        </p:spPr>
        <p:txBody>
          <a:bodyPr>
            <a:normAutofit/>
          </a:bodyPr>
          <a:lstStyle/>
          <a:p>
            <a:r>
              <a:rPr lang="en-US" sz="1800" dirty="0"/>
              <a:t>As discussed previously, high WOB seems to have a suppression effect on HFTO magnitude, this is curious as lab data typically shows the opposite</a:t>
            </a:r>
          </a:p>
          <a:p>
            <a:r>
              <a:rPr lang="en-US" sz="1800" dirty="0"/>
              <a:t>This may be some area of further research</a:t>
            </a:r>
          </a:p>
          <a:p>
            <a:r>
              <a:rPr lang="en-US" sz="1800" dirty="0"/>
              <a:t>To the right are screenshots from BHA30 that shows this effect when drilling in the same area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8D9D7-735E-B04E-C62F-6C8725C648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A89964-C3B2-185C-CA40-44CE6190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24" y="745946"/>
            <a:ext cx="8587633" cy="2922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BA72B-9306-D229-299D-6F1FE1DE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094" y="3668438"/>
            <a:ext cx="8654511" cy="208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3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8984</TotalTime>
  <Words>1232</Words>
  <Application>Microsoft Office PowerPoint</Application>
  <PresentationFormat>Widescreen</PresentationFormat>
  <Paragraphs>141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Arial,Sans-Serif</vt:lpstr>
      <vt:lpstr>Courier New,monospace</vt:lpstr>
      <vt:lpstr>Arial</vt:lpstr>
      <vt:lpstr>Calibri</vt:lpstr>
      <vt:lpstr>Courier New</vt:lpstr>
      <vt:lpstr>Verdana</vt:lpstr>
      <vt:lpstr>Wingdings</vt:lpstr>
      <vt:lpstr>Office Theme</vt:lpstr>
      <vt:lpstr>Well 16A(78)-32 UTAH FORGE HFTO Graphs</vt:lpstr>
      <vt:lpstr>Data Collection</vt:lpstr>
      <vt:lpstr>Data Exploration</vt:lpstr>
      <vt:lpstr>Missing Data Values and Augmenting RPM</vt:lpstr>
      <vt:lpstr>Manual ROP Calculations</vt:lpstr>
      <vt:lpstr>Drilling, Non-Drilling, Rotating, Sliding</vt:lpstr>
      <vt:lpstr>BHA18 Data Exploration</vt:lpstr>
      <vt:lpstr>BHA18  Data Exploration</vt:lpstr>
      <vt:lpstr>BHA18 HFTO Graphs</vt:lpstr>
      <vt:lpstr>BHA23 Data Exploration</vt:lpstr>
      <vt:lpstr>BHA23  Data Exploration</vt:lpstr>
      <vt:lpstr>BHA23 HFTO Graphs</vt:lpstr>
      <vt:lpstr>BHA30 Data Exploration</vt:lpstr>
      <vt:lpstr>BHA30 Data Exploration</vt:lpstr>
      <vt:lpstr>BHA30 HFTO Graphs</vt:lpstr>
      <vt:lpstr>PowerPoint Presentation</vt:lpstr>
      <vt:lpstr>BHA34 (low data) Data Exploration</vt:lpstr>
      <vt:lpstr>BHA34 (low data) Data Exploration</vt:lpstr>
      <vt:lpstr>BHA34 HFTO Graphs</vt:lpstr>
      <vt:lpstr>BHA38 Data Exploration</vt:lpstr>
      <vt:lpstr>BHA38 Data Exploration</vt:lpstr>
      <vt:lpstr>BHA38 HFTO Graphs</vt:lpstr>
      <vt:lpstr>BHA39 Data Exploration</vt:lpstr>
      <vt:lpstr>BHA39 Data Exploration</vt:lpstr>
      <vt:lpstr>BHA39 HFTO Graphs</vt:lpstr>
      <vt:lpstr>BHA42 Data Exploration</vt:lpstr>
      <vt:lpstr>BHA42 Data Exploration</vt:lpstr>
      <vt:lpstr>BHA42 HFTO Graphs</vt:lpstr>
      <vt:lpstr>PowerPoint Presentation</vt:lpstr>
      <vt:lpstr>Red BHA Comparison</vt:lpstr>
      <vt:lpstr>Blue BHA Comparison</vt:lpstr>
      <vt:lpstr>BHA 18, 23, 35 HFTO Comparison</vt:lpstr>
      <vt:lpstr>WOB Shifting HFTO Magnitude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Pang</dc:creator>
  <cp:lastModifiedBy>Xu, Isaac</cp:lastModifiedBy>
  <cp:revision>281</cp:revision>
  <dcterms:modified xsi:type="dcterms:W3CDTF">2026-01-26T04:41:15Z</dcterms:modified>
</cp:coreProperties>
</file>